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8173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7A45E"/>
          </a:solidFill>
          <a:ln w="12700">
            <a:solidFill>
              <a:srgbClr val="C7A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54864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Diabetes Risk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224028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Analysis of Nine Supervised Classifiers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254203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CDC BRFSS 2015 Health Indicators Dataset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2971800"/>
            <a:ext cx="4572000" cy="36576"/>
          </a:xfrm>
          <a:prstGeom prst="rect">
            <a:avLst/>
          </a:prstGeom>
          <a:solidFill>
            <a:srgbClr val="5B7FA0"/>
          </a:solidFill>
          <a:ln w="12700">
            <a:solidFill>
              <a:srgbClr val="5B7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3108960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333756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Yaswanth Moapda   ·   Srujith Borra   ·   Uday Ankam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" y="379476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571  —  Machine Learning  ·  </a:t>
            </a:r>
            <a:r>
              <a:rPr lang="en-US" sz="1200">
                <a:solidFill>
                  <a:srgbClr val="9D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4160520"/>
            <a:ext cx="2606040" cy="868680"/>
          </a:xfrm>
          <a:prstGeom prst="rect">
            <a:avLst/>
          </a:prstGeom>
          <a:solidFill>
            <a:srgbClr val="2E4A6F"/>
          </a:solidFill>
          <a:ln w="12700">
            <a:solidFill>
              <a:srgbClr val="00000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418795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70,692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11480" y="4608576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Records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4160520"/>
            <a:ext cx="2606040" cy="868680"/>
          </a:xfrm>
          <a:prstGeom prst="rect">
            <a:avLst/>
          </a:prstGeom>
          <a:solidFill>
            <a:srgbClr val="2E4A6F"/>
          </a:solidFill>
          <a:ln w="12700">
            <a:solidFill>
              <a:srgbClr val="00000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46120" y="418795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246120" y="4608576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4160520"/>
            <a:ext cx="2606040" cy="868680"/>
          </a:xfrm>
          <a:prstGeom prst="rect">
            <a:avLst/>
          </a:prstGeom>
          <a:solidFill>
            <a:srgbClr val="2E4A6F"/>
          </a:solidFill>
          <a:ln w="12700">
            <a:solidFill>
              <a:srgbClr val="00000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80760" y="418795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0.827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080760" y="4608576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AUC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164592"/>
            <a:ext cx="1737360" cy="274320"/>
          </a:xfrm>
          <a:prstGeom prst="rect">
            <a:avLst/>
          </a:prstGeom>
          <a:solidFill>
            <a:srgbClr val="C7A45E"/>
          </a:solidFill>
          <a:ln w="12700">
            <a:solidFill>
              <a:srgbClr val="C7A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92608" y="1645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321040" y="486460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92608" y="548640"/>
            <a:ext cx="8558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Research Questions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92608" y="1143000"/>
            <a:ext cx="4069080" cy="3703320"/>
          </a:xfrm>
          <a:prstGeom prst="rect">
            <a:avLst/>
          </a:prstGeom>
          <a:solidFill>
            <a:srgbClr val="2E4A6F"/>
          </a:solidFill>
          <a:ln w="12700">
            <a:solidFill>
              <a:srgbClr val="00000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2763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37M+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Americans have diabetes [CDC, 2022]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 undiagnosed until complications develop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3749040" cy="36576"/>
          </a:xfrm>
          <a:prstGeom prst="rect">
            <a:avLst/>
          </a:prstGeom>
          <a:solidFill>
            <a:srgbClr val="5B7FA0"/>
          </a:solidFill>
          <a:ln w="12700">
            <a:solidFill>
              <a:srgbClr val="5B7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82219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Need: Low-cost, scalable screening using survey data alone, without lab tests.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98848" y="1143000"/>
            <a:ext cx="4343400" cy="3703320"/>
          </a:xfrm>
          <a:prstGeom prst="rect">
            <a:avLst/>
          </a:prstGeom>
          <a:solidFill>
            <a:srgbClr val="2E4A6F"/>
          </a:solidFill>
          <a:ln w="12700">
            <a:solidFill>
              <a:srgbClr val="00000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12801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1691640"/>
            <a:ext cx="64008" cy="822960"/>
          </a:xfrm>
          <a:prstGeom prst="rect">
            <a:avLst/>
          </a:prstGeom>
          <a:solidFill>
            <a:srgbClr val="C7A45E"/>
          </a:solidFill>
          <a:ln w="12700">
            <a:solidFill>
              <a:srgbClr val="C7A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00600" y="169164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1965960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survey-based features alone achieve clinically meaningful diabetes-prediction accuracy?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651760"/>
            <a:ext cx="64008" cy="822960"/>
          </a:xfrm>
          <a:prstGeom prst="rect">
            <a:avLst/>
          </a:prstGeom>
          <a:solidFill>
            <a:srgbClr val="C7A45E"/>
          </a:solidFill>
          <a:ln w="12700">
            <a:solidFill>
              <a:srgbClr val="C7A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265176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2926080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9 classifiers spanning different inductive biases, which yields the best discrimination?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611880"/>
            <a:ext cx="64008" cy="822960"/>
          </a:xfrm>
          <a:prstGeom prst="rect">
            <a:avLst/>
          </a:prstGeom>
          <a:solidFill>
            <a:srgbClr val="C7A45E"/>
          </a:solidFill>
          <a:ln w="12700">
            <a:solidFill>
              <a:srgbClr val="C7A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0600" y="361188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3886200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non-linear modeling improve over a linear baseline — and what does that imply?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164592"/>
            <a:ext cx="1737360" cy="274320"/>
          </a:xfrm>
          <a:prstGeom prst="rect">
            <a:avLst/>
          </a:prstGeom>
          <a:solidFill>
            <a:srgbClr val="C7A45E"/>
          </a:solidFill>
          <a:ln w="12700">
            <a:solidFill>
              <a:srgbClr val="C7A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92608" y="1645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321040" y="486460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92608" y="548640"/>
            <a:ext cx="8558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Preprocessing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92608" y="1143000"/>
            <a:ext cx="2011680" cy="1078992"/>
          </a:xfrm>
          <a:prstGeom prst="rect">
            <a:avLst/>
          </a:prstGeom>
          <a:solidFill>
            <a:srgbClr val="2E4A6F"/>
          </a:solidFill>
          <a:ln w="12700">
            <a:solidFill>
              <a:srgbClr val="00000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92608" y="12070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70,692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292608" y="17190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Records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87168" y="1143000"/>
            <a:ext cx="2011680" cy="1078992"/>
          </a:xfrm>
          <a:prstGeom prst="rect">
            <a:avLst/>
          </a:prstGeom>
          <a:solidFill>
            <a:srgbClr val="2E4A6F"/>
          </a:solidFill>
          <a:ln w="12700">
            <a:solidFill>
              <a:srgbClr val="00000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87168" y="12070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1,635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2487168" y="17190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Removed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81728" y="1143000"/>
            <a:ext cx="2011680" cy="1078992"/>
          </a:xfrm>
          <a:prstGeom prst="rect">
            <a:avLst/>
          </a:prstGeom>
          <a:solidFill>
            <a:srgbClr val="2E4A6F"/>
          </a:solidFill>
          <a:ln w="12700">
            <a:solidFill>
              <a:srgbClr val="00000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81728" y="12070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67,920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681728" y="17190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Balancing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76288" y="1143000"/>
            <a:ext cx="2011680" cy="1078992"/>
          </a:xfrm>
          <a:prstGeom prst="rect">
            <a:avLst/>
          </a:prstGeom>
          <a:solidFill>
            <a:srgbClr val="2E4A6F"/>
          </a:solidFill>
          <a:ln w="12700">
            <a:solidFill>
              <a:srgbClr val="00000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76288" y="12070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47,544 / 20,376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6876288" y="17190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70/30 Split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" y="2423160"/>
            <a:ext cx="4206240" cy="2468880"/>
          </a:xfrm>
          <a:prstGeom prst="rect">
            <a:avLst/>
          </a:prstGeom>
          <a:solidFill>
            <a:srgbClr val="2E4A6F"/>
          </a:solidFill>
          <a:ln w="12700">
            <a:solidFill>
              <a:srgbClr val="00000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25420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 (21)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2852928"/>
            <a:ext cx="39319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(14): </a:t>
            </a:r>
            <a:r>
              <a:rPr lang="en-US" sz="10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HighBP, HighChol, Smoker, Stroke, HeartDisease, PhysActivity, Fruits, Veggies, HvyAlcohol, AnyHealthcare, NoDocbcCost, DiffWalk, Sex, CholCheck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(7):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BMI, GenHlth, MentHlth, PhysHlth, Age, Education, Income — all z-score standardized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423160"/>
            <a:ext cx="4160520" cy="2468880"/>
          </a:xfrm>
          <a:prstGeom prst="rect">
            <a:avLst/>
          </a:prstGeom>
          <a:solidFill>
            <a:srgbClr val="2E4A6F"/>
          </a:solidFill>
          <a:ln w="12700">
            <a:solidFill>
              <a:srgbClr val="00000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28032" y="254203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28032" y="2871216"/>
            <a:ext cx="39044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Duplicate removal (1,635 rows) — prevents data leakage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28032" y="3246120"/>
            <a:ext cx="39044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Class balancing (50/50, 67,920 rows) — eliminates majority bias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28032" y="3621024"/>
            <a:ext cx="39044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Factor encoding (14 binary features)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28032" y="3995928"/>
            <a:ext cx="39044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Z-score standardization (7 continuous features)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28032" y="4370832"/>
            <a:ext cx="39044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Stratified 70/30 train-test split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164592"/>
            <a:ext cx="1737360" cy="274320"/>
          </a:xfrm>
          <a:prstGeom prst="rect">
            <a:avLst/>
          </a:prstGeom>
          <a:solidFill>
            <a:srgbClr val="C7A45E"/>
          </a:solidFill>
          <a:ln w="12700">
            <a:solidFill>
              <a:srgbClr val="C7A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92608" y="1645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PART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321040" y="486460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92608" y="548640"/>
            <a:ext cx="8558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Univariate &amp; Correlation</a:t>
            </a:r>
            <a:endParaRPr lang="en-US" sz="2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115568"/>
            <a:ext cx="5166360" cy="3749040"/>
          </a:xfrm>
          <a:prstGeom prst="rect">
            <a:avLst/>
          </a:prstGeom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5669280" y="1152144"/>
            <a:ext cx="54864" cy="502920"/>
          </a:xfrm>
          <a:prstGeom prst="rect">
            <a:avLst/>
          </a:prstGeom>
          <a:solidFill>
            <a:srgbClr val="C7A45E"/>
          </a:solidFill>
          <a:ln w="12700">
            <a:solidFill>
              <a:srgbClr val="C7A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815584" y="1152144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815584" y="138988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50/50 (23,772 each) → unbiased baseline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669280" y="1883664"/>
            <a:ext cx="54864" cy="502920"/>
          </a:xfrm>
          <a:prstGeom prst="rect">
            <a:avLst/>
          </a:prstGeom>
          <a:solidFill>
            <a:srgbClr val="C7A45E"/>
          </a:solidFill>
          <a:ln w="12700">
            <a:solidFill>
              <a:srgbClr val="C7A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815584" y="1883664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815584" y="21214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right-shift for diabetic group → adiposity link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669280" y="2615184"/>
            <a:ext cx="54864" cy="502920"/>
          </a:xfrm>
          <a:prstGeom prst="rect">
            <a:avLst/>
          </a:prstGeom>
          <a:solidFill>
            <a:srgbClr val="C7A45E"/>
          </a:solidFill>
          <a:ln w="12700">
            <a:solidFill>
              <a:srgbClr val="C7A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815584" y="2615184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815584" y="28529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 rises 8% → 61% across age groups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669280" y="3346704"/>
            <a:ext cx="54864" cy="502920"/>
          </a:xfrm>
          <a:prstGeom prst="rect">
            <a:avLst/>
          </a:prstGeom>
          <a:solidFill>
            <a:srgbClr val="C7A45E"/>
          </a:solidFill>
          <a:ln w="12700">
            <a:solidFill>
              <a:srgbClr val="C7A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815584" y="3346704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815584" y="35844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GenHlth, BMI, Age, HighBP. No |r| &gt; 0.5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669280" y="4078224"/>
            <a:ext cx="54864" cy="502920"/>
          </a:xfrm>
          <a:prstGeom prst="rect">
            <a:avLst/>
          </a:prstGeom>
          <a:solidFill>
            <a:srgbClr val="C7A45E"/>
          </a:solidFill>
          <a:ln w="12700">
            <a:solidFill>
              <a:srgbClr val="C7A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815584" y="4078224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Health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815584" y="43159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monotonic link → strongest signal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164592"/>
            <a:ext cx="1737360" cy="274320"/>
          </a:xfrm>
          <a:prstGeom prst="rect">
            <a:avLst/>
          </a:prstGeom>
          <a:solidFill>
            <a:srgbClr val="C7A45E"/>
          </a:solidFill>
          <a:ln w="12700">
            <a:solidFill>
              <a:srgbClr val="C7A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92608" y="1645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PART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321040" y="486460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92608" y="548640"/>
            <a:ext cx="8558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Bivariate Patterns</a:t>
            </a:r>
            <a:endParaRPr lang="en-US" sz="2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115568"/>
            <a:ext cx="5166360" cy="3749040"/>
          </a:xfrm>
          <a:prstGeom prst="rect">
            <a:avLst/>
          </a:prstGeom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5669280" y="1152144"/>
            <a:ext cx="54864" cy="502920"/>
          </a:xfrm>
          <a:prstGeom prst="rect">
            <a:avLst/>
          </a:prstGeom>
          <a:solidFill>
            <a:srgbClr val="5B7FA0"/>
          </a:solidFill>
          <a:ln w="12700">
            <a:solidFill>
              <a:srgbClr val="5B7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815584" y="1152144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815584" y="138988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continuous features show group differences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669280" y="1883664"/>
            <a:ext cx="54864" cy="502920"/>
          </a:xfrm>
          <a:prstGeom prst="rect">
            <a:avLst/>
          </a:prstGeom>
          <a:solidFill>
            <a:srgbClr val="5B7FA0"/>
          </a:solidFill>
          <a:ln w="12700">
            <a:solidFill>
              <a:srgbClr val="5B7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815584" y="1883664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Features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815584" y="21214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HighBP gap: 67% vs 37% — largest discriminator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669280" y="2615184"/>
            <a:ext cx="54864" cy="502920"/>
          </a:xfrm>
          <a:prstGeom prst="rect">
            <a:avLst/>
          </a:prstGeom>
          <a:solidFill>
            <a:srgbClr val="5B7FA0"/>
          </a:solidFill>
          <a:ln w="12700">
            <a:solidFill>
              <a:srgbClr val="5B7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815584" y="2615184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815584" y="28529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socioeconomic gradient → not a noise variable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669280" y="3346704"/>
            <a:ext cx="54864" cy="502920"/>
          </a:xfrm>
          <a:prstGeom prst="rect">
            <a:avLst/>
          </a:prstGeom>
          <a:solidFill>
            <a:srgbClr val="5B7FA0"/>
          </a:solidFill>
          <a:ln w="12700">
            <a:solidFill>
              <a:srgbClr val="5B7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815584" y="3346704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vs GenHlth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815584" y="35844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cluster: high BMI + poor health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669280" y="4078224"/>
            <a:ext cx="54864" cy="502920"/>
          </a:xfrm>
          <a:prstGeom prst="rect">
            <a:avLst/>
          </a:prstGeom>
          <a:solidFill>
            <a:srgbClr val="5B7FA0"/>
          </a:solidFill>
          <a:ln w="12700">
            <a:solidFill>
              <a:srgbClr val="5B7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815584" y="4078224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815584" y="43159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Prevalence: 56.6% (low) → 40.7% (high)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164592"/>
            <a:ext cx="1737360" cy="274320"/>
          </a:xfrm>
          <a:prstGeom prst="rect">
            <a:avLst/>
          </a:prstGeom>
          <a:solidFill>
            <a:srgbClr val="C7A45E"/>
          </a:solidFill>
          <a:ln w="12700">
            <a:solidFill>
              <a:srgbClr val="C7A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92608" y="1645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321040" y="486460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92608" y="548640"/>
            <a:ext cx="8558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— Nine Classifiers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292608" y="960120"/>
            <a:ext cx="8558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D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span hypothesis classes motivated by EDA findings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" y="1280160"/>
            <a:ext cx="2743200" cy="1033272"/>
          </a:xfrm>
          <a:prstGeom prst="rect">
            <a:avLst/>
          </a:prstGeom>
          <a:solidFill>
            <a:srgbClr val="2E4A6F"/>
          </a:solidFill>
          <a:ln w="12700">
            <a:solidFill>
              <a:srgbClr val="00000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92608" y="1280160"/>
            <a:ext cx="64008" cy="1033272"/>
          </a:xfrm>
          <a:prstGeom prst="rect">
            <a:avLst/>
          </a:prstGeom>
          <a:solidFill>
            <a:srgbClr val="C7A45E"/>
          </a:solidFill>
          <a:ln w="12700">
            <a:solidFill>
              <a:srgbClr val="C7A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353312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· Linear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1847088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Binomial GLM · Full data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72968" y="1280160"/>
            <a:ext cx="2743200" cy="1033272"/>
          </a:xfrm>
          <a:prstGeom prst="rect">
            <a:avLst/>
          </a:prstGeom>
          <a:solidFill>
            <a:srgbClr val="2E4A6F"/>
          </a:solidFill>
          <a:ln w="12700">
            <a:solidFill>
              <a:srgbClr val="00000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72968" y="1280160"/>
            <a:ext cx="64008" cy="1033272"/>
          </a:xfrm>
          <a:prstGeom prst="rect">
            <a:avLst/>
          </a:prstGeom>
          <a:solidFill>
            <a:srgbClr val="C7A45E"/>
          </a:solidFill>
          <a:ln w="12700">
            <a:solidFill>
              <a:srgbClr val="C7A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37560" y="1353312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(glmnet)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645920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· Regularized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37560" y="1847088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alpha=1, λ by 5-fold CV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53328" y="1280160"/>
            <a:ext cx="2743200" cy="1033272"/>
          </a:xfrm>
          <a:prstGeom prst="rect">
            <a:avLst/>
          </a:prstGeom>
          <a:solidFill>
            <a:srgbClr val="2E4A6F"/>
          </a:solidFill>
          <a:ln w="12700">
            <a:solidFill>
              <a:srgbClr val="00000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53328" y="1280160"/>
            <a:ext cx="64008" cy="1033272"/>
          </a:xfrm>
          <a:prstGeom prst="rect">
            <a:avLst/>
          </a:prstGeom>
          <a:solidFill>
            <a:srgbClr val="5B7FA0"/>
          </a:solidFill>
          <a:ln w="12700">
            <a:solidFill>
              <a:srgbClr val="5B7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0" y="1353312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1645920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· Interpretable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17920" y="1847088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rpart, cp=0.001, depth=6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92608" y="2441448"/>
            <a:ext cx="2743200" cy="1033272"/>
          </a:xfrm>
          <a:prstGeom prst="rect">
            <a:avLst/>
          </a:prstGeom>
          <a:solidFill>
            <a:srgbClr val="2E4A6F"/>
          </a:solidFill>
          <a:ln w="12700">
            <a:solidFill>
              <a:srgbClr val="00000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92608" y="2441448"/>
            <a:ext cx="64008" cy="1033272"/>
          </a:xfrm>
          <a:prstGeom prst="rect">
            <a:avLst/>
          </a:prstGeom>
          <a:solidFill>
            <a:srgbClr val="5B7FA0"/>
          </a:solidFill>
          <a:ln w="12700">
            <a:solidFill>
              <a:srgbClr val="5B7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251460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2807208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· Bagging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3008376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trees, mtry=4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172968" y="2441448"/>
            <a:ext cx="2743200" cy="1033272"/>
          </a:xfrm>
          <a:prstGeom prst="rect">
            <a:avLst/>
          </a:prstGeom>
          <a:solidFill>
            <a:srgbClr val="2E4A6F"/>
          </a:solidFill>
          <a:ln w="12700">
            <a:solidFill>
              <a:srgbClr val="00000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172968" y="2441448"/>
            <a:ext cx="64008" cy="1033272"/>
          </a:xfrm>
          <a:prstGeom prst="rect">
            <a:avLst/>
          </a:prstGeom>
          <a:solidFill>
            <a:srgbClr val="5B7FA0"/>
          </a:solidFill>
          <a:ln w="12700">
            <a:solidFill>
              <a:srgbClr val="5B7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37560" y="251460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37560" y="2807208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· Boosting ⭐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37560" y="3008376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trees, depth=3, η=0.05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53328" y="2441448"/>
            <a:ext cx="2743200" cy="1033272"/>
          </a:xfrm>
          <a:prstGeom prst="rect">
            <a:avLst/>
          </a:prstGeom>
          <a:solidFill>
            <a:srgbClr val="2E4A6F"/>
          </a:solidFill>
          <a:ln w="12700">
            <a:solidFill>
              <a:srgbClr val="00000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053328" y="2441448"/>
            <a:ext cx="64008" cy="1033272"/>
          </a:xfrm>
          <a:prstGeom prst="rect">
            <a:avLst/>
          </a:prstGeom>
          <a:solidFill>
            <a:srgbClr val="5B7FA0"/>
          </a:solidFill>
          <a:ln w="12700">
            <a:solidFill>
              <a:srgbClr val="5B7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17920" y="251460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17920" y="2807208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· Reg. Boosting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217920" y="3008376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rounds, η=0.05, depth=4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92608" y="3602736"/>
            <a:ext cx="2743200" cy="1033272"/>
          </a:xfrm>
          <a:prstGeom prst="rect">
            <a:avLst/>
          </a:prstGeom>
          <a:solidFill>
            <a:srgbClr val="2E4A6F"/>
          </a:solidFill>
          <a:ln w="12700">
            <a:solidFill>
              <a:srgbClr val="00000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92608" y="3602736"/>
            <a:ext cx="64008" cy="1033272"/>
          </a:xfrm>
          <a:prstGeom prst="rect">
            <a:avLst/>
          </a:prstGeom>
          <a:solidFill>
            <a:srgbClr val="9DA9B8"/>
          </a:solidFill>
          <a:ln w="12700">
            <a:solidFill>
              <a:srgbClr val="9DA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7200" y="3675888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3968496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D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· Margin-based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7200" y="4169664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C=1 · 10% subsample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172968" y="3602736"/>
            <a:ext cx="2743200" cy="1033272"/>
          </a:xfrm>
          <a:prstGeom prst="rect">
            <a:avLst/>
          </a:prstGeom>
          <a:solidFill>
            <a:srgbClr val="2E4A6F"/>
          </a:solidFill>
          <a:ln w="12700">
            <a:solidFill>
              <a:srgbClr val="00000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172968" y="3602736"/>
            <a:ext cx="64008" cy="1033272"/>
          </a:xfrm>
          <a:prstGeom prst="rect">
            <a:avLst/>
          </a:prstGeom>
          <a:solidFill>
            <a:srgbClr val="9DA9B8"/>
          </a:solidFill>
          <a:ln w="12700">
            <a:solidFill>
              <a:srgbClr val="9DA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337560" y="3675888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337560" y="3968496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D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Non-parametric · Deep-ish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337560" y="4169664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hidden, decay=0.01 · 10%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053328" y="3602736"/>
            <a:ext cx="2743200" cy="1033272"/>
          </a:xfrm>
          <a:prstGeom prst="rect">
            <a:avLst/>
          </a:prstGeom>
          <a:solidFill>
            <a:srgbClr val="2E4A6F"/>
          </a:solidFill>
          <a:ln w="12700">
            <a:solidFill>
              <a:srgbClr val="00000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053328" y="3602736"/>
            <a:ext cx="64008" cy="1033272"/>
          </a:xfrm>
          <a:prstGeom prst="rect">
            <a:avLst/>
          </a:prstGeom>
          <a:solidFill>
            <a:srgbClr val="9DA9B8"/>
          </a:solidFill>
          <a:ln w="12700">
            <a:solidFill>
              <a:srgbClr val="9DA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217920" y="3675888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217920" y="3968496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D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· Local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217920" y="4169664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k=21 · 10% subsample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92608" y="4828032"/>
            <a:ext cx="8558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SVM, Neural Net, k-NN trained on 10% subsample (4,756 rows) due to compute constraints — results are lower bounds.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164592"/>
            <a:ext cx="1737360" cy="274320"/>
          </a:xfrm>
          <a:prstGeom prst="rect">
            <a:avLst/>
          </a:prstGeom>
          <a:solidFill>
            <a:srgbClr val="C7A45E"/>
          </a:solidFill>
          <a:ln w="12700">
            <a:solidFill>
              <a:srgbClr val="C7A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92608" y="1645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321040" y="486460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92608" y="548640"/>
            <a:ext cx="8558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— Test Set (n = 20,376)</a:t>
            </a:r>
            <a:endParaRPr lang="en-US" sz="2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1115568"/>
          <a:ext cx="8558784" cy="914400"/>
        </p:xfrm>
        <a:graphic>
          <a:graphicData uri="http://schemas.openxmlformats.org/drawingml/2006/table">
            <a:tbl>
              <a:tblPr/>
              <a:tblGrid>
                <a:gridCol w="1481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</a:rPr>
                        <a:t>Model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A4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</a:rPr>
                        <a:t>Acc.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A4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</a:rPr>
                        <a:t>Sens.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A4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</a:rPr>
                        <a:t>Spec.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A4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</a:rPr>
                        <a:t>Prec.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A4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</a:rPr>
                        <a:t>F1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A4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</a:rPr>
                        <a:t>AUC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A4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</a:rPr>
                        <a:t>GBM ⭐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9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</a:rPr>
                        <a:t>74.9%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9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</a:rPr>
                        <a:t>78.9%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9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</a:rPr>
                        <a:t>70.8%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9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</a:rPr>
                        <a:t>73.0%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9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</a:rPr>
                        <a:t>0.758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9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</a:rPr>
                        <a:t>0.827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9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</a:rPr>
                        <a:t>XGBoost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9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</a:rPr>
                        <a:t>74.8%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9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</a:rPr>
                        <a:t>78.6%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9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</a:rPr>
                        <a:t>71.0%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9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</a:rPr>
                        <a:t>73.1%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9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</a:rPr>
                        <a:t>0.758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9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</a:rPr>
                        <a:t>0.826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9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Logistic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74.6%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76.7%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72.4%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73.5%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0.751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C7A45E"/>
                          </a:solidFill>
                        </a:rPr>
                        <a:t>0.820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Lasso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1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74.5%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1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76.8%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1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72.3%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1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73.5%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1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0.751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1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C7A45E"/>
                          </a:solidFill>
                        </a:rPr>
                        <a:t>0.820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1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SVM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74.4%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76.3%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72.6%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73.5%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0.749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C7A45E"/>
                          </a:solidFill>
                        </a:rPr>
                        <a:t>0.818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RandomForest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1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74.1%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1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78.5%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1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69.7%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1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72.2%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1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0.752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1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C7A45E"/>
                          </a:solidFill>
                        </a:rPr>
                        <a:t>0.814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1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NeuralNet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72.7%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74.9%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70.5%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71.7%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0.733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C7A45E"/>
                          </a:solidFill>
                        </a:rPr>
                        <a:t>0.798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DecisionTree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1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71.8%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1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73.5%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1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70.2%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1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71.1%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1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0.723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1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C7A45E"/>
                          </a:solidFill>
                        </a:rPr>
                        <a:t>0.790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1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kNN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68.9%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69.1%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68.7%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68.8%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0.690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C7A45E"/>
                          </a:solidFill>
                        </a:rPr>
                        <a:t>0.755</a:t>
                      </a:r>
                      <a:endParaRPr lang="en-US" sz="1050" dirty="0"/>
                    </a:p>
                  </a:txBody>
                  <a:tcPr>
                    <a:lnL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5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92608" y="4617720"/>
            <a:ext cx="8558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GBM &amp; XGBoost lead (AUC ≈ 0.83); Logistic Regression follows closely (AUC=0.820) → relationship is largely linear.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164592"/>
            <a:ext cx="1737360" cy="274320"/>
          </a:xfrm>
          <a:prstGeom prst="rect">
            <a:avLst/>
          </a:prstGeom>
          <a:solidFill>
            <a:srgbClr val="C7A45E"/>
          </a:solidFill>
          <a:ln w="12700">
            <a:solidFill>
              <a:srgbClr val="C7A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92608" y="1645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321040" y="486460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92608" y="548640"/>
            <a:ext cx="8558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Curves, Variable Importance &amp; Confusion Matrix</a:t>
            </a:r>
            <a:endParaRPr lang="en-US" sz="2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078992"/>
            <a:ext cx="8558784" cy="3246120"/>
          </a:xfrm>
          <a:prstGeom prst="rect">
            <a:avLst/>
          </a:prstGeom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292608" y="4434840"/>
            <a:ext cx="2834640" cy="594360"/>
          </a:xfrm>
          <a:prstGeom prst="rect">
            <a:avLst/>
          </a:prstGeom>
          <a:solidFill>
            <a:srgbClr val="1F3A5F"/>
          </a:solidFill>
          <a:ln w="12700">
            <a:solidFill>
              <a:srgbClr val="C7A45E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84048" y="446227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— Plot 11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84048" y="466344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 dominates curve. All 9 beat random baseline. Boosting &gt; bagging &gt; linear &gt; tree &gt; kNN.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64408" y="4434840"/>
            <a:ext cx="2834640" cy="594360"/>
          </a:xfrm>
          <a:prstGeom prst="rect">
            <a:avLst/>
          </a:prstGeom>
          <a:solidFill>
            <a:srgbClr val="1F3A5F"/>
          </a:solidFill>
          <a:ln w="12700">
            <a:solidFill>
              <a:srgbClr val="C7A45E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355848" y="446227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— Plot 12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355848" y="466344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GenHlth &amp; BMI top — matches EDA exactly. Validates feature signal.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236208" y="4434840"/>
            <a:ext cx="2834640" cy="594360"/>
          </a:xfrm>
          <a:prstGeom prst="rect">
            <a:avLst/>
          </a:prstGeom>
          <a:solidFill>
            <a:srgbClr val="1F3A5F"/>
          </a:solidFill>
          <a:ln w="12700">
            <a:solidFill>
              <a:srgbClr val="C7A45E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327648" y="446227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GBM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327648" y="466344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TP=8,040 · TN=7,214 · FP=2,974 · FN=2,148. Lowest FN of all 9.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164592"/>
            <a:ext cx="1737360" cy="274320"/>
          </a:xfrm>
          <a:prstGeom prst="rect">
            <a:avLst/>
          </a:prstGeom>
          <a:solidFill>
            <a:srgbClr val="C7A45E"/>
          </a:solidFill>
          <a:ln w="12700">
            <a:solidFill>
              <a:srgbClr val="C7A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92608" y="1645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321040" y="486460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92608" y="548640"/>
            <a:ext cx="8558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92608" y="1188720"/>
            <a:ext cx="4251960" cy="1115568"/>
          </a:xfrm>
          <a:prstGeom prst="rect">
            <a:avLst/>
          </a:prstGeom>
          <a:solidFill>
            <a:srgbClr val="2E4A6F"/>
          </a:solidFill>
          <a:ln w="12700">
            <a:solidFill>
              <a:srgbClr val="00000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2608" y="1188720"/>
            <a:ext cx="64008" cy="1115568"/>
          </a:xfrm>
          <a:prstGeom prst="rect">
            <a:avLst/>
          </a:prstGeom>
          <a:solidFill>
            <a:srgbClr val="C7A45E"/>
          </a:solidFill>
          <a:ln w="12700">
            <a:solidFill>
              <a:srgbClr val="C7A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GBM &amp; XGBoost lead — but margin is small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0.827 / 0.826. Sequential boosting handles class overlap best, but XGBoost's regularization adds little here.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27448" y="1188720"/>
            <a:ext cx="4251960" cy="1115568"/>
          </a:xfrm>
          <a:prstGeom prst="rect">
            <a:avLst/>
          </a:prstGeom>
          <a:solidFill>
            <a:srgbClr val="2E4A6F"/>
          </a:solidFill>
          <a:ln w="12700">
            <a:solidFill>
              <a:srgbClr val="00000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27448" y="1188720"/>
            <a:ext cx="64008" cy="1115568"/>
          </a:xfrm>
          <a:prstGeom prst="rect">
            <a:avLst/>
          </a:prstGeom>
          <a:solidFill>
            <a:srgbClr val="C7A45E"/>
          </a:solidFill>
          <a:ln w="12700">
            <a:solidFill>
              <a:srgbClr val="C7A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12801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Linear models are surprisingly competitive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60020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AUC=0.820 — only 0.007 below GBM. Implies feature-outcome relationship is largely linear.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92608" y="2414016"/>
            <a:ext cx="4251960" cy="1115568"/>
          </a:xfrm>
          <a:prstGeom prst="rect">
            <a:avLst/>
          </a:prstGeom>
          <a:solidFill>
            <a:srgbClr val="2E4A6F"/>
          </a:solidFill>
          <a:ln w="12700">
            <a:solidFill>
              <a:srgbClr val="00000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92608" y="2414016"/>
            <a:ext cx="64008" cy="1115568"/>
          </a:xfrm>
          <a:prstGeom prst="rect">
            <a:avLst/>
          </a:prstGeom>
          <a:solidFill>
            <a:srgbClr val="C7A45E"/>
          </a:solidFill>
          <a:ln w="12700">
            <a:solidFill>
              <a:srgbClr val="C7A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50545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Lasso retained all 21 features (λ ≈ 0)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2825496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regularization confirmed no redundancy — empirical validation of EDA finding.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27448" y="2414016"/>
            <a:ext cx="4251960" cy="1115568"/>
          </a:xfrm>
          <a:prstGeom prst="rect">
            <a:avLst/>
          </a:prstGeom>
          <a:solidFill>
            <a:srgbClr val="2E4A6F"/>
          </a:solidFill>
          <a:ln w="12700">
            <a:solidFill>
              <a:srgbClr val="00000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27448" y="2414016"/>
            <a:ext cx="64008" cy="1115568"/>
          </a:xfrm>
          <a:prstGeom prst="rect">
            <a:avLst/>
          </a:prstGeom>
          <a:solidFill>
            <a:srgbClr val="C7A45E"/>
          </a:solidFill>
          <a:ln w="12700">
            <a:solidFill>
              <a:srgbClr val="C7A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92040" y="250545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k-NN underperforms — curse of dimensionality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2825496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features create sparse neighborhoods; distance-based methods degrade. Classical theoretical limitation.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92608" y="3639312"/>
            <a:ext cx="4251960" cy="1115568"/>
          </a:xfrm>
          <a:prstGeom prst="rect">
            <a:avLst/>
          </a:prstGeom>
          <a:solidFill>
            <a:srgbClr val="2E4A6F"/>
          </a:solidFill>
          <a:ln w="12700">
            <a:solidFill>
              <a:srgbClr val="00000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92608" y="3639312"/>
            <a:ext cx="64008" cy="1115568"/>
          </a:xfrm>
          <a:prstGeom prst="rect">
            <a:avLst/>
          </a:prstGeom>
          <a:solidFill>
            <a:srgbClr val="C7A45E"/>
          </a:solidFill>
          <a:ln w="12700">
            <a:solidFill>
              <a:srgbClr val="C7A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73075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EDA findings validated by RF importance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05079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GenHlth, BMI, Age, HighBP, Income — top 5 in both EDA and RF importance scores. Models learn real patterns.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27448" y="3639312"/>
            <a:ext cx="4251960" cy="1115568"/>
          </a:xfrm>
          <a:prstGeom prst="rect">
            <a:avLst/>
          </a:prstGeom>
          <a:solidFill>
            <a:srgbClr val="2E4A6F"/>
          </a:solidFill>
          <a:ln w="12700">
            <a:solidFill>
              <a:srgbClr val="00000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27448" y="3639312"/>
            <a:ext cx="64008" cy="1115568"/>
          </a:xfrm>
          <a:prstGeom prst="rect">
            <a:avLst/>
          </a:prstGeom>
          <a:solidFill>
            <a:srgbClr val="C7A45E"/>
          </a:solidFill>
          <a:ln w="12700">
            <a:solidFill>
              <a:srgbClr val="C7A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92040" y="373075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GBM is best for clinical deployment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405079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sensitivity (78.9%) and lowest false negatives (2,148) — critical for screening applications.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7A45E"/>
          </a:solidFill>
          <a:ln w="12700">
            <a:solidFill>
              <a:srgbClr val="C7A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29260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84048" y="886968"/>
            <a:ext cx="4389120" cy="36576"/>
          </a:xfrm>
          <a:prstGeom prst="rect">
            <a:avLst/>
          </a:prstGeom>
          <a:solidFill>
            <a:srgbClr val="C7A45E"/>
          </a:solidFill>
          <a:ln w="12700">
            <a:solidFill>
              <a:srgbClr val="C7A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048" y="103327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" y="1325880"/>
            <a:ext cx="49377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1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Survey-based diabetes prediction achieves AUC ≈ 0.83 with only behavioral features — no lab tests required.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1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 is the recommended deployment model (highest sensitivity, lowest FN).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1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is a viable alternative where interpretability is required (AUC gap = 0.007).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1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GenHlth, BMI, Age, HighBP, Income — predictors align with established epidemiology.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320040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349300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SVM / NN / k-NN trained on 10% subsample — full-data training needed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3803904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50/50 class balance ≠ ~14% population prevalence — recalibration required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411480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Self-reported features carry measurement &amp; recall bias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4425696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Future: ensemble stacking, threshold tuning, recent BRFSS cycles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760720" y="29260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Yaswanth Moapda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60720" y="5943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Srujith Borra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60720" y="8961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Uday Ankam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60720" y="1417320"/>
            <a:ext cx="3108960" cy="676656"/>
          </a:xfrm>
          <a:prstGeom prst="rect">
            <a:avLst/>
          </a:prstGeom>
          <a:solidFill>
            <a:srgbClr val="2E4A6F"/>
          </a:solidFill>
          <a:ln w="12700">
            <a:solidFill>
              <a:srgbClr val="00000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6072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Models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760720" y="1828800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on test set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60720" y="2194560"/>
            <a:ext cx="3108960" cy="676656"/>
          </a:xfrm>
          <a:prstGeom prst="rect">
            <a:avLst/>
          </a:prstGeom>
          <a:solidFill>
            <a:srgbClr val="2E4A6F"/>
          </a:solidFill>
          <a:ln w="12700">
            <a:solidFill>
              <a:srgbClr val="00000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760720" y="2240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0.827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760720" y="2606040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AUC (GBM)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60720" y="2971800"/>
            <a:ext cx="3108960" cy="676656"/>
          </a:xfrm>
          <a:prstGeom prst="rect">
            <a:avLst/>
          </a:prstGeom>
          <a:solidFill>
            <a:srgbClr val="2E4A6F"/>
          </a:solidFill>
          <a:ln w="12700">
            <a:solidFill>
              <a:srgbClr val="00000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760720" y="3017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74.9%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5760720" y="3383280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760720" y="3749040"/>
            <a:ext cx="3108960" cy="676656"/>
          </a:xfrm>
          <a:prstGeom prst="rect">
            <a:avLst/>
          </a:prstGeom>
          <a:solidFill>
            <a:srgbClr val="2E4A6F"/>
          </a:solidFill>
          <a:ln w="12700">
            <a:solidFill>
              <a:srgbClr val="00000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760720" y="3794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7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78.9%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5760720" y="4160520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Sensitivity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4048" y="489204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D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571  |  Spring 2025  |  Dataset: UCI ML Repository — CDC BRFSS 2015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1121</Words>
  <Application>Microsoft Macintosh PowerPoint</Application>
  <PresentationFormat>On-screen Show (16:9)</PresentationFormat>
  <Paragraphs>240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Diabetes Risk Using Machine Learning</dc:title>
  <dc:subject>PptxGenJS Presentation</dc:subject>
  <dc:creator>PptxGenJS</dc:creator>
  <cp:lastModifiedBy>Yaswanth Mopada</cp:lastModifiedBy>
  <cp:revision>2</cp:revision>
  <dcterms:created xsi:type="dcterms:W3CDTF">2026-05-05T01:10:34Z</dcterms:created>
  <dcterms:modified xsi:type="dcterms:W3CDTF">2026-05-05T01:22:07Z</dcterms:modified>
</cp:coreProperties>
</file>